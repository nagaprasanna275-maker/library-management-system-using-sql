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8" r:id="rId3"/>
    <p:sldId id="273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2" r:id="rId20"/>
    <p:sldId id="259" r:id="rId21"/>
  </p:sldIdLst>
  <p:sldSz cx="12192000" cy="6858000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Tw Cen MT" panose="020B0602020104020603" pitchFamily="34" charset="0"/>
      <p:regular r:id="rId27"/>
      <p:bold r:id="rId28"/>
      <p:italic r:id="rId29"/>
      <p:boldItalic r:id="rId30"/>
    </p:embeddedFont>
    <p:embeddedFont>
      <p:font typeface="Wingdings 3" panose="05040102010807070707" pitchFamily="18" charset="2"/>
      <p:regular r:id="rId31"/>
    </p:embeddedFon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Tw Cen MT Condensed" panose="020B0606020104020203" pitchFamily="34" charset="0"/>
      <p:regular r:id="rId36"/>
      <p:bold r:id="rId37"/>
    </p:embeddedFont>
    <p:embeddedFont>
      <p:font typeface="Libre Baskerville" panose="020B0604020202020204" charset="0"/>
      <p:regular r:id="rId38"/>
      <p:bold r:id="rId39"/>
      <p:italic r:id="rId4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2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20" Type="http://schemas.openxmlformats.org/officeDocument/2006/relationships/slide" Target="slides/slide19.xml"/><Relationship Id="rId4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724896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87350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35010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9824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32550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905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229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557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7132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035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941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786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215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527981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530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737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5688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655607" y="3827532"/>
            <a:ext cx="8702197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IN" sz="4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MANAGEMENT SYSTEM </a:t>
            </a:r>
            <a:endParaRPr lang="en-IN" sz="4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1161288" y="388883"/>
            <a:ext cx="10039192" cy="954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b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 and schema explanation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 (use cases)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results with screenshots or summaries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business insights and recommendations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 Slide 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31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Experience/Challenges working on SQL – Data Analysis Project.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030424-51ED-10BE-382F-B6F73A6F6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28" y="168166"/>
            <a:ext cx="10817772" cy="767255"/>
          </a:xfrm>
        </p:spPr>
        <p:txBody>
          <a:bodyPr>
            <a:normAutofit/>
          </a:bodyPr>
          <a:lstStyle/>
          <a:p>
            <a:pPr algn="ctr"/>
            <a:r>
              <a:rPr lang="en-IN" sz="3000" b="1" i="0" u="none" strike="noStrike" cap="none" dirty="0">
                <a:solidFill>
                  <a:srgbClr val="FF0000"/>
                </a:solidFill>
                <a:latin typeface="Times New Roman" panose="02020603050405020304" pitchFamily="18" charset="0"/>
                <a:ea typeface="Lato Black"/>
                <a:cs typeface="Times New Roman" panose="02020603050405020304" pitchFamily="18" charset="0"/>
                <a:sym typeface="Lato Black"/>
              </a:rPr>
              <a:t>ABOUT ME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023209F-E0BB-7E61-64D8-6B066C96D9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4" y="1229709"/>
            <a:ext cx="10586545" cy="5460125"/>
          </a:xfrm>
        </p:spPr>
        <p:txBody>
          <a:bodyPr>
            <a:noAutofit/>
          </a:bodyPr>
          <a:lstStyle/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S.K. Afrin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B.tech.</a:t>
            </a: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ECE (</a:t>
            </a:r>
            <a:r>
              <a:rPr lang="en-US" sz="15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Chalapathi</a:t>
            </a: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Institute Of Technology, 2022–2025)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Analytics: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Passionate about using data to uncover insights, solve problems, and support </a:t>
            </a:r>
            <a:r>
              <a:rPr lang="en-US" sz="155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datadriven</a:t>
            </a: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decision-making. Skilled in Python, SQL, Power BI, Tableau and Advance Excel; eager to deepen my knowledge in advanced analytics .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Yerramsetty Rishitha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Detail-oriented professional with 3+ years of experience in .NET production support, seeking to transition into a data analyst role.</a:t>
            </a:r>
            <a:endParaRPr lang="en-US" sz="15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Want to Learn Data Analytics:</a:t>
            </a:r>
          </a:p>
          <a:p>
            <a:pPr marL="114300" indent="0">
              <a:lnSpc>
                <a:spcPct val="220000"/>
              </a:lnSpc>
              <a:spcBef>
                <a:spcPts val="0"/>
              </a:spcBef>
              <a:buNone/>
            </a:pPr>
            <a:r>
              <a:rPr lang="en-US" sz="15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goal is to continuously enhance my analytical and technical skills by learning advanced tools and techniques in data analytics. I’m committed to applying innovative data-driven solutions to optimize business performance and create measurable impact.</a:t>
            </a:r>
            <a:endParaRPr lang="en-IN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3968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2660" y="561051"/>
            <a:ext cx="10826680" cy="61540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-6350" algn="ctr">
              <a:lnSpc>
                <a:spcPct val="200000"/>
              </a:lnSpc>
            </a:pPr>
            <a:r>
              <a:rPr lang="en-IN" sz="2000" b="1" dirty="0">
                <a:solidFill>
                  <a:srgbClr val="1B1C1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Goal :</a:t>
            </a:r>
            <a:r>
              <a:rPr lang="en-IN" sz="2000" dirty="0">
                <a:solidFill>
                  <a:srgbClr val="1B1C1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project's main goal is to </a:t>
            </a:r>
            <a:r>
              <a:rPr lang="en-IN" sz="2000" b="1" dirty="0">
                <a:solidFill>
                  <a:srgbClr val="1B1C1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and analyse relational database for a library</a:t>
            </a:r>
            <a:r>
              <a:rPr lang="en-IN" sz="2000" dirty="0">
                <a:solidFill>
                  <a:srgbClr val="1B1C1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This involves using SQL to structure the data, ensure its integrity, and answer key business questions.</a:t>
            </a:r>
          </a:p>
          <a:p>
            <a:pPr marL="6350" indent="-6350">
              <a:lnSpc>
                <a:spcPct val="200000"/>
              </a:lnSpc>
            </a:pPr>
            <a:r>
              <a:rPr lang="en-IN" sz="2000" b="1" dirty="0">
                <a:solidFill>
                  <a:srgbClr val="1B1C1D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Objectives:</a:t>
            </a:r>
            <a:endParaRPr lang="en-IN" sz="2000" dirty="0">
              <a:solidFill>
                <a:srgbClr val="1B1C1D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Database Design: </a:t>
            </a:r>
            <a:r>
              <a:rPr lang="en-IN" sz="2000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Create a logical database schema by defining tables, columns, and relationships.</a:t>
            </a:r>
            <a:endParaRPr lang="en-IN" sz="2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Data Integrity: </a:t>
            </a:r>
            <a:r>
              <a:rPr lang="en-IN" sz="2000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Use primary and foreign keys to enforce relationships and ensure data consistency.</a:t>
            </a:r>
            <a:endParaRPr lang="en-IN" sz="2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SQL Querying: </a:t>
            </a:r>
            <a:r>
              <a:rPr lang="en-IN" sz="2000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Write complex queries to retrieve meaningful information, such as book availability and borrower activity.</a:t>
            </a:r>
          </a:p>
          <a:p>
            <a:pPr marL="342900" indent="-342900" algn="just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Problem-Solving: </a:t>
            </a:r>
            <a:r>
              <a:rPr lang="en-IN" sz="2000" dirty="0">
                <a:solidFill>
                  <a:srgbClr val="1B1C1D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Translate real-world business questions into effective SQL queries to provide actionable insights.</a:t>
            </a:r>
            <a:endParaRPr lang="en-IN" sz="2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342900" lvl="0" indent="-342900" algn="just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endParaRPr lang="en-IN" sz="2000" dirty="0">
              <a:uFill>
                <a:solidFill>
                  <a:srgbClr val="000000"/>
                </a:solidFill>
              </a:uFill>
              <a:latin typeface="Times New Roman" panose="02020603050405020304" pitchFamily="18" charset="0"/>
              <a:ea typeface="Arial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2299" y="80920"/>
            <a:ext cx="10940432" cy="4801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lnSpc>
                <a:spcPct val="90000"/>
              </a:lnSpc>
              <a:buSzPts val="1800"/>
            </a:pPr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dirty="0">
              <a:uFill>
                <a:solidFill>
                  <a:srgbClr val="000000"/>
                </a:solidFill>
              </a:u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8454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/>
          <p:nvPr/>
        </p:nvPicPr>
        <p:blipFill>
          <a:blip r:embed="rId2"/>
          <a:stretch>
            <a:fillRect/>
          </a:stretch>
        </p:blipFill>
        <p:spPr>
          <a:xfrm>
            <a:off x="904875" y="1071562"/>
            <a:ext cx="10382250" cy="47148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24303" y="178676"/>
            <a:ext cx="9816662" cy="535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237355" indent="-6350">
              <a:lnSpc>
                <a:spcPct val="102000"/>
              </a:lnSpc>
              <a:spcAft>
                <a:spcPts val="2480"/>
              </a:spcAft>
            </a:pP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 DIAGRAM</a:t>
            </a:r>
            <a:endParaRPr lang="en-IN" sz="3000" b="1" kern="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70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444" y="785226"/>
            <a:ext cx="10976140" cy="4922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-6350">
              <a:lnSpc>
                <a:spcPct val="200000"/>
              </a:lnSpc>
              <a:tabLst>
                <a:tab pos="2038350" algn="l"/>
                <a:tab pos="5748020" algn="ctr"/>
              </a:tabLst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schema models a library management system, tracking books, authors, branches, borrowers, loans, publishers, and copies.</a:t>
            </a:r>
          </a:p>
          <a:p>
            <a:pPr marL="6350" indent="-6350">
              <a:lnSpc>
                <a:spcPct val="200000"/>
              </a:lnSpc>
              <a:tabLst>
                <a:tab pos="2038350" algn="l"/>
                <a:tab pos="5748020" algn="ctr"/>
              </a:tabLst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 Entities: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tbl_book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Stores book details (</a:t>
            </a:r>
            <a:r>
              <a:rPr lang="en-IN" sz="20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BookID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Title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, </a:t>
            </a:r>
            <a:r>
              <a:rPr lang="en-IN" sz="20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PublisherName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tbl_book_authors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 Links books to their authors.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tbl_publisher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 Contains publisher contact information.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tbl_library_branch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 Lists all library branches.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tbl_borrower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 Stores borrower details such as name and contact.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64E1DF0-6152-AAB6-8DB0-D51482EB2C4A}"/>
              </a:ext>
            </a:extLst>
          </p:cNvPr>
          <p:cNvSpPr txBox="1"/>
          <p:nvPr/>
        </p:nvSpPr>
        <p:spPr>
          <a:xfrm>
            <a:off x="1996966" y="231228"/>
            <a:ext cx="7966841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 EXPLAINATION</a:t>
            </a:r>
          </a:p>
        </p:txBody>
      </p:sp>
    </p:spTree>
    <p:extLst>
      <p:ext uri="{BB962C8B-B14F-4D97-AF65-F5344CB8AC3E}">
        <p14:creationId xmlns:p14="http://schemas.microsoft.com/office/powerpoint/2010/main" val="7387269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3378" y="1156138"/>
            <a:ext cx="9680029" cy="553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8025" indent="-6350"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Relationships: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Book–Publisher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 Each book is published by one publisher.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Book–Author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A book can have multiple authors (many-to-one via </a:t>
            </a:r>
            <a:r>
              <a:rPr lang="en-IN" sz="20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tbl_book_authors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).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Book–Branch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</a:t>
            </a:r>
            <a:r>
              <a:rPr lang="en-IN" sz="20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tbl_book_copies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links books to branches with quantity.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Borrower–Loan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Borrowers loan books via </a:t>
            </a:r>
            <a:r>
              <a:rPr lang="en-IN" sz="20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Consolas" panose="020B0609020204030204" pitchFamily="49" charset="0"/>
                <a:cs typeface="Times New Roman" panose="02020603050405020304" pitchFamily="18" charset="0"/>
              </a:rPr>
              <a:t>tbl_book_loans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Loan–Book/Branch</a:t>
            </a:r>
            <a:r>
              <a:rPr lang="en-IN" sz="20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: Each loan references a book and the branch it's borrowed from.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 Flow Example: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08025" indent="-635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Borrower → Loans Book (from Branch) → Book Copy → Book Info → Author </a:t>
            </a:r>
          </a:p>
          <a:p>
            <a:pPr marL="1050925" indent="-6350">
              <a:lnSpc>
                <a:spcPct val="200000"/>
              </a:lnSpc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&amp; Publisher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73352AA-976D-CE4C-B1E2-F97594ADB1D6}"/>
              </a:ext>
            </a:extLst>
          </p:cNvPr>
          <p:cNvSpPr txBox="1"/>
          <p:nvPr/>
        </p:nvSpPr>
        <p:spPr>
          <a:xfrm>
            <a:off x="1051034" y="426117"/>
            <a:ext cx="943828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AND DATAFLOW</a:t>
            </a:r>
          </a:p>
        </p:txBody>
      </p:sp>
    </p:spTree>
    <p:extLst>
      <p:ext uri="{BB962C8B-B14F-4D97-AF65-F5344CB8AC3E}">
        <p14:creationId xmlns:p14="http://schemas.microsoft.com/office/powerpoint/2010/main" val="4256805090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99565" y="1239012"/>
            <a:ext cx="10392870" cy="5244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Check how many copies of the book titled </a:t>
            </a:r>
            <a:r>
              <a:rPr lang="en-IN" sz="1700" i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"The Lost Tribe" </a:t>
            </a: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are available in the Sharpstown branch.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List all books that were loaned out from the </a:t>
            </a:r>
            <a:r>
              <a:rPr lang="en-IN" sz="1700" dirty="0" err="1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Sharpstown</a:t>
            </a: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branch and are due on </a:t>
            </a:r>
            <a:r>
              <a:rPr lang="en-IN" sz="1700" i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February 3, 2018</a:t>
            </a: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Find all books authored by </a:t>
            </a:r>
            <a:r>
              <a:rPr lang="en-IN" sz="1700" i="1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Stephen King </a:t>
            </a: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that are available in the Central branch.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List all books along with their branch name and the number of copies available. If the branch name is missing, display the branch ID instead.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List all books along with their corresponding publisher names.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Retrieve the complete list of all borrowers registered in the system.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Find the total number of book loans made by each borrower.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Display the total number of rows (records) present in each table of the database.</a:t>
            </a:r>
          </a:p>
          <a:p>
            <a:pPr marL="342900" lvl="0" indent="-342900" fontAlgn="base">
              <a:lnSpc>
                <a:spcPct val="200000"/>
              </a:lnSpc>
              <a:buSzPts val="1800"/>
              <a:buFont typeface="Arial" panose="020B0604020202020204" pitchFamily="34" charset="0"/>
              <a:buChar char="•"/>
            </a:pPr>
            <a:r>
              <a:rPr lang="en-IN" sz="1700" dirty="0"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Identify borrowers who currently have books checked out.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3244F39-B292-C09C-75AB-25843B247322}"/>
              </a:ext>
            </a:extLst>
          </p:cNvPr>
          <p:cNvSpPr txBox="1"/>
          <p:nvPr/>
        </p:nvSpPr>
        <p:spPr>
          <a:xfrm>
            <a:off x="2249215" y="400252"/>
            <a:ext cx="83557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ANALYSIS QUESTIONS- USE CASES</a:t>
            </a:r>
            <a:endParaRPr lang="en-IN" sz="3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767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5129" y="120330"/>
            <a:ext cx="1191687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How many copies of the book titled "The Lost Tribe" are owned by the library branch whose name is "</a:t>
            </a:r>
            <a:r>
              <a:rPr lang="en-US" sz="2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"?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778" y="1114333"/>
            <a:ext cx="11250595" cy="242921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971" y="4461944"/>
            <a:ext cx="5925377" cy="138131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233564" y="3543547"/>
            <a:ext cx="2962687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450" indent="-6350" algn="ctr">
              <a:spcAft>
                <a:spcPts val="65"/>
              </a:spcAft>
            </a:pP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Result </a:t>
            </a: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IN" sz="30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Table:</a:t>
            </a:r>
          </a:p>
        </p:txBody>
      </p:sp>
      <p:pic>
        <p:nvPicPr>
          <p:cNvPr id="1026" name="Picture 2" descr="Pile of different colorful books Cute different colorful books. Stack of books. Educational theme. Vector illustration isolated on white background. Book stock vecto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853" y="4001453"/>
            <a:ext cx="2682568" cy="2682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5116730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4073" y="299405"/>
            <a:ext cx="115230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2.How many copies of the book titled "The Lost Tribe" are owned by each library branch?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749159" y="3429000"/>
            <a:ext cx="21648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77" y="3661115"/>
            <a:ext cx="2478843" cy="20230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7A1C275-DCF1-A210-70F4-CBB27E7CD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869" y="4103064"/>
            <a:ext cx="7044153" cy="20349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3A5F366B-41F8-A2B9-A9A4-F6CD3DB0F3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977" y="1580908"/>
            <a:ext cx="9941045" cy="178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087400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160021"/>
            <a:ext cx="11506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3.Retrieve the names of all borrowers who do not have any books checked out.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404" y="1303283"/>
            <a:ext cx="9810143" cy="171318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4582" y="3592890"/>
            <a:ext cx="2219635" cy="12193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081682" y="3192780"/>
            <a:ext cx="201659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0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41316" y="3592890"/>
            <a:ext cx="6446520" cy="26286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only one  borrowers who do not checked out in the library system.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 name is “Jane Smith”.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find this we have to left join two tables: “</a:t>
            </a:r>
            <a:r>
              <a:rPr lang="en-IN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tbl_borrower</a:t>
            </a: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 and “</a:t>
            </a:r>
            <a:r>
              <a:rPr lang="en-IN" sz="17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tbl_book_loans</a:t>
            </a: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290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0520" y="220980"/>
            <a:ext cx="109270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4.For each book that is loaned out from the "Sharpstown" branch and whose Due Date is 2/3/18, retrieve the book title, the borrower's name, and the borrower's address.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66" y="1482034"/>
            <a:ext cx="11317279" cy="211484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15198C9-3E17-17BC-C7D0-9DE5FD17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2740" y="4456386"/>
            <a:ext cx="7724666" cy="173092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25C9D1D-6CA4-4530-D636-42E40ED023F5}"/>
              </a:ext>
            </a:extLst>
          </p:cNvPr>
          <p:cNvSpPr/>
          <p:nvPr/>
        </p:nvSpPr>
        <p:spPr>
          <a:xfrm>
            <a:off x="441434" y="4370739"/>
            <a:ext cx="3804746" cy="16083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only </a:t>
            </a:r>
            <a:r>
              <a:rPr lang="en-IN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one</a:t>
            </a: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borrowers whose name is </a:t>
            </a:r>
            <a:r>
              <a:rPr lang="en-IN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 Li </a:t>
            </a:r>
            <a:r>
              <a:rPr lang="en-IN" sz="17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borrowed 6 books with the due date </a:t>
            </a:r>
            <a:r>
              <a:rPr lang="en-IN" sz="17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2/03/2018</a:t>
            </a:r>
            <a:endParaRPr lang="en-IN" sz="17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47955BD2-6050-06C7-61F1-24962EFAED07}"/>
              </a:ext>
            </a:extLst>
          </p:cNvPr>
          <p:cNvSpPr/>
          <p:nvPr/>
        </p:nvSpPr>
        <p:spPr>
          <a:xfrm>
            <a:off x="6096000" y="3909074"/>
            <a:ext cx="21648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4252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289560"/>
            <a:ext cx="112090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For each library branch, retrieve the branch name and the total number of books loaned out from that branch.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07" y="1416536"/>
            <a:ext cx="9431066" cy="134321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0787" y="3783813"/>
            <a:ext cx="6044592" cy="2230578"/>
          </a:xfrm>
          <a:prstGeom prst="rect">
            <a:avLst/>
          </a:prstGeom>
        </p:spPr>
      </p:pic>
      <p:pic>
        <p:nvPicPr>
          <p:cNvPr id="3074" name="Picture 2" descr="https://illustoon.com/photo/dl/1145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5163" y="3388208"/>
            <a:ext cx="2771315" cy="2771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57CC94F5-54FE-CC21-9289-051D8C5CCFCB}"/>
              </a:ext>
            </a:extLst>
          </p:cNvPr>
          <p:cNvSpPr/>
          <p:nvPr/>
        </p:nvSpPr>
        <p:spPr>
          <a:xfrm>
            <a:off x="5918641" y="3027528"/>
            <a:ext cx="23422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1876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958" y="339866"/>
            <a:ext cx="113450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Retrieve the names, addresses, and number of books checked out for all borrowers who have more than five books checked out.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90" y="4219103"/>
            <a:ext cx="6516009" cy="20957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891" y="1504013"/>
            <a:ext cx="8298347" cy="24862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AEDE80F8-8083-EB3A-CC30-D18EBA60388B}"/>
              </a:ext>
            </a:extLst>
          </p:cNvPr>
          <p:cNvSpPr/>
          <p:nvPr/>
        </p:nvSpPr>
        <p:spPr>
          <a:xfrm>
            <a:off x="602891" y="3636580"/>
            <a:ext cx="219286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24C51FFD-10E2-059F-C84D-343602E6410A}"/>
              </a:ext>
            </a:extLst>
          </p:cNvPr>
          <p:cNvSpPr/>
          <p:nvPr/>
        </p:nvSpPr>
        <p:spPr>
          <a:xfrm flipH="1">
            <a:off x="7630509" y="4323438"/>
            <a:ext cx="4298728" cy="1267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</a:t>
            </a:r>
            <a:r>
              <a:rPr lang="en-IN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borrowers who has borrowed more than 5 books. </a:t>
            </a:r>
            <a:endParaRPr lang="en-IN" sz="20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3496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3216" y="291313"/>
            <a:ext cx="1117779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7.For each book authored by "Stephen King", retrieve the title and the number of copies owned by the library branch whose name is "Central".</a:t>
            </a: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57" y="1391767"/>
            <a:ext cx="10558710" cy="267012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285" y="4929649"/>
            <a:ext cx="4372585" cy="122889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F6C26261-26A6-8E4B-0FD6-B4FD94F9172A}"/>
              </a:ext>
            </a:extLst>
          </p:cNvPr>
          <p:cNvSpPr/>
          <p:nvPr/>
        </p:nvSpPr>
        <p:spPr>
          <a:xfrm flipH="1">
            <a:off x="6169572" y="4529959"/>
            <a:ext cx="5759665" cy="1229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There are 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books with 5 copies each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 the Author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Stephen King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branch</a:t>
            </a:r>
            <a:endParaRPr lang="en-IN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FA1B8C86-AC39-9DFF-95DB-3CDE17F1658A}"/>
              </a:ext>
            </a:extLst>
          </p:cNvPr>
          <p:cNvSpPr/>
          <p:nvPr/>
        </p:nvSpPr>
        <p:spPr>
          <a:xfrm>
            <a:off x="883286" y="4331350"/>
            <a:ext cx="224879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Result </a:t>
            </a: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IN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Table:</a:t>
            </a:r>
            <a:endParaRPr lang="en-IN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47059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71560" y="161841"/>
            <a:ext cx="67082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IN" sz="3200" dirty="0"/>
              <a:t> BUSINESS INSIGHTS</a:t>
            </a:r>
          </a:p>
        </p:txBody>
      </p:sp>
      <p:sp>
        <p:nvSpPr>
          <p:cNvPr id="3" name="Rectangle 2"/>
          <p:cNvSpPr/>
          <p:nvPr/>
        </p:nvSpPr>
        <p:spPr>
          <a:xfrm>
            <a:off x="906308" y="1165253"/>
            <a:ext cx="8698938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Availability &amp; Demand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“The Lost Tribe” has 4 copies in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7 copies total across branches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holds majority of Stephen King’s works, e.g., “It” (6 copies)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Insights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borrowers (e.g., Jane Smith, Angela Thompson, Haley Jackson) have no active loans.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High-activity borrowers (e.g., Tom Li – 7 loans) drive circulation trends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Branch-Level Trends 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branch has time-sensitive loans due on Feb 3, 2018 (The Lost Tribe – John Doe).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Loan activity varies across branches, highlighting different usage patterns. Operational Insights • Total 20+ books, 16 publishers, 8 borrowers in system. • Enables tracking of popular titles, branch demand, and borrower behavior for better inventory planning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1032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0738" y="371662"/>
            <a:ext cx="550835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</a:t>
            </a:r>
          </a:p>
        </p:txBody>
      </p:sp>
      <p:sp>
        <p:nvSpPr>
          <p:cNvPr id="3" name="Rectangle 2"/>
          <p:cNvSpPr/>
          <p:nvPr/>
        </p:nvSpPr>
        <p:spPr>
          <a:xfrm>
            <a:off x="453155" y="987228"/>
            <a:ext cx="1095661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Inventory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more copies of “The Lost Tribe” at high-demand branches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stock across branches to reduce shortages.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Engagement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high-activity borrowers (e.g., Tom Li) with loyalty programs.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 inactive borrowers (e.g., Jane Smith, Angela Thompson) through reminders/promotions. 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 Performance Monitoring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loan activity per branch to identify under-utilized libraries.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insights to allocate resources effectively.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&amp; Author Insights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 partnerships with popular publishers (e.g., Bloomsbury, Signet Books).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availability of top authors (Stephen King, J.K. Rowling).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Improvements </a:t>
            </a:r>
            <a:endParaRPr lang="en-US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due-date reminders (e.g.,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loans due Feb 3, 2018). • Regularly review data for usage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trends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strategic decisions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562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7936" y="105196"/>
            <a:ext cx="504943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 smtClean="0"/>
              <a:t>                  </a:t>
            </a:r>
            <a:r>
              <a:rPr lang="en-IN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5194" y="1016835"/>
            <a:ext cx="11450229" cy="44627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Management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demand gaps (The Lost Tribe at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→ supports smarter inventory allocation.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Borrower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</a:t>
            </a:r>
            <a:r>
              <a:rPr lang="en-IN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inactive borrowers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helps design engagement &amp; retention strategies.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Sharpstown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time-sensitive loans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Central branch dominates in popular titles (Stephen King) → branches have unique usage patterns.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Author Trends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circulation from popular publishers (Bloomsbury, Signet Books) and authors (Stephen King, J.K. Rowling) → guides future acquisitions.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</a:t>
            </a:r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tracks loans, returns, copies, and borrowers effectively. </a:t>
            </a:r>
            <a:endParaRPr lang="en-IN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I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data-driven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 for improved efficiency, user satisfaction, and growth.</a:t>
            </a:r>
          </a:p>
        </p:txBody>
      </p:sp>
    </p:spTree>
    <p:extLst>
      <p:ext uri="{BB962C8B-B14F-4D97-AF65-F5344CB8AC3E}">
        <p14:creationId xmlns:p14="http://schemas.microsoft.com/office/powerpoint/2010/main" val="31342643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071016D-6F62-42E0-3D5D-BA45037E5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029" y="178675"/>
            <a:ext cx="10817772" cy="998483"/>
          </a:xfrm>
        </p:spPr>
        <p:txBody>
          <a:bodyPr>
            <a:normAutofit/>
          </a:bodyPr>
          <a:lstStyle/>
          <a:p>
            <a:pPr algn="ctr"/>
            <a:r>
              <a:rPr lang="en-US" sz="33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 / Challenges Faced During the Project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CD41E7C-3D4F-7F5C-A30C-A8C79A891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731"/>
            <a:ext cx="10515600" cy="492623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the ER diagram and defining relationships among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Books, Authors, Borrowers, Publishers,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complex and required careful planning.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Issues: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Ensuring accuracy through proper use of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was essential to maintain consistent data.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Business Logic: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real-world problems (e.g., tracking book loans or availability) into SQL queries enhanced our problem-solving ability.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Debugging and Validation: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queries initially gave empty or incorrect results, which required step-by-step debugging and validation of data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9169697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1401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5000" b="1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YOU</a:t>
            </a:r>
            <a:endParaRPr sz="5000" b="1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317</TotalTime>
  <Words>1248</Words>
  <Application>Microsoft Office PowerPoint</Application>
  <PresentationFormat>Widescreen</PresentationFormat>
  <Paragraphs>118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Consolas</vt:lpstr>
      <vt:lpstr>Tw Cen MT</vt:lpstr>
      <vt:lpstr>Wingdings 3</vt:lpstr>
      <vt:lpstr>Calibri</vt:lpstr>
      <vt:lpstr>Times New Roman</vt:lpstr>
      <vt:lpstr>Lato Black</vt:lpstr>
      <vt:lpstr>Tw Cen MT Condensed</vt:lpstr>
      <vt:lpstr>Arial</vt:lpstr>
      <vt:lpstr>Libre Baskerville</vt:lpstr>
      <vt:lpstr>Integral</vt:lpstr>
      <vt:lpstr>PowerPoint Presentation</vt:lpstr>
      <vt:lpstr>AGENDA </vt:lpstr>
      <vt:lpstr>ABOUT 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Experience / Challenges Faced During the Project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hp</cp:lastModifiedBy>
  <cp:revision>26</cp:revision>
  <dcterms:created xsi:type="dcterms:W3CDTF">2021-02-16T05:19:01Z</dcterms:created>
  <dcterms:modified xsi:type="dcterms:W3CDTF">2025-10-15T07:14:14Z</dcterms:modified>
</cp:coreProperties>
</file>